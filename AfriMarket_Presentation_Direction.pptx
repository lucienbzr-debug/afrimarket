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109728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Afri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051560"/>
            <a:ext cx="2257686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063240"/>
            <a:ext cx="103601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Dashboard Stratégique &amp; Analyse Commerciale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1">
                <a:solidFill>
                  <a:srgbClr val="E8A33D"/>
                </a:solidFill>
                <a:latin typeface="Calibri"/>
              </a:rPr>
              <a:t>Résumé exécutif à destination de la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3601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9A9A97"/>
                </a:solidFill>
                <a:latin typeface="Calibri"/>
              </a:rPr>
              <a:t>Période analysée : Juillet — Décembre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601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A9A97"/>
                </a:solidFill>
                <a:latin typeface="Calibri"/>
              </a:rPr>
              <a:t>9 400 commandes nettoyées · 8 villes · 4 catégories · 1 747 clients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Afri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92608"/>
            <a:ext cx="59412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45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C3D2A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A2A28"/>
                </a:solidFill>
                <a:latin typeface="Calibri"/>
              </a:rPr>
              <a:t>Contexte &amp; objectifs de l'analyse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A2A28"/>
                </a:solidFill>
                <a:latin typeface="Calibri"/>
              </a:rPr>
              <a:t>AfriMarket est une entreprise e-commerce panafricaine opérant dans 8 villes d'Afrique francophone, sur 4 catégories : Électronique, Mode, Beauté et Maison.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C3D2A"/>
                </a:solidFill>
                <a:latin typeface="Calibri"/>
              </a:rPr>
              <a:t>4 signaux remontés par la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DC3D2A"/>
                </a:solidFill>
                <a:latin typeface="Calibri"/>
              </a:rPr>
              <a:t>●  </a:t>
            </a:r>
            <a:r>
              <a:rPr sz="1400">
                <a:solidFill>
                  <a:srgbClr val="2A2A28"/>
                </a:solidFill>
                <a:latin typeface="Calibri"/>
              </a:rPr>
              <a:t>Variations importantes du chiffre d'affaires selon les mois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DC3D2A"/>
                </a:solidFill>
                <a:latin typeface="Calibri"/>
              </a:rPr>
              <a:t>●  </a:t>
            </a:r>
            <a:r>
              <a:rPr sz="1400">
                <a:solidFill>
                  <a:srgbClr val="2A2A28"/>
                </a:solidFill>
                <a:latin typeface="Calibri"/>
              </a:rPr>
              <a:t>Taux de retour préoccupant sur certains produits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DC3D2A"/>
                </a:solidFill>
                <a:latin typeface="Calibri"/>
              </a:rPr>
              <a:t>●  </a:t>
            </a:r>
            <a:r>
              <a:rPr sz="1400">
                <a:solidFill>
                  <a:srgbClr val="2A2A28"/>
                </a:solidFill>
                <a:latin typeface="Calibri"/>
              </a:rPr>
              <a:t>Dépenses marketing élevées, ROI incertain par canal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DC3D2A"/>
                </a:solidFill>
                <a:latin typeface="Calibri"/>
              </a:rPr>
              <a:t>●  </a:t>
            </a:r>
            <a:r>
              <a:rPr sz="1400">
                <a:solidFill>
                  <a:srgbClr val="2A2A28"/>
                </a:solidFill>
                <a:latin typeface="Calibri"/>
              </a:rPr>
              <a:t>Écarts de performance importants selon les villes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331720"/>
            <a:ext cx="5486400" cy="356616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C3D2A"/>
                </a:solidFill>
                <a:latin typeface="Calibri"/>
              </a:rPr>
              <a:t>Portée de l'étude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DC3D2A"/>
                </a:solidFill>
                <a:latin typeface="Calibri"/>
              </a:rPr>
              <a:t>●  </a:t>
            </a:r>
            <a:r>
              <a:rPr sz="1400">
                <a:solidFill>
                  <a:srgbClr val="2A2A28"/>
                </a:solidFill>
                <a:latin typeface="Calibri"/>
              </a:rPr>
              <a:t>6 mois d'activité commerciale complète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DC3D2A"/>
                </a:solidFill>
                <a:latin typeface="Calibri"/>
              </a:rPr>
              <a:t>●  </a:t>
            </a:r>
            <a:r>
              <a:rPr sz="1400">
                <a:solidFill>
                  <a:srgbClr val="2A2A28"/>
                </a:solidFill>
                <a:latin typeface="Calibri"/>
              </a:rPr>
              <a:t>10 100 commandes brutes → 9 400 après nettoyage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DC3D2A"/>
                </a:solidFill>
                <a:latin typeface="Calibri"/>
              </a:rPr>
              <a:t>●  </a:t>
            </a:r>
            <a:r>
              <a:rPr sz="1400">
                <a:solidFill>
                  <a:srgbClr val="2A2A28"/>
                </a:solidFill>
                <a:latin typeface="Calibri"/>
              </a:rPr>
              <a:t>Analyse par catégorie, ville, canal marketing et client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DC3D2A"/>
                </a:solidFill>
                <a:latin typeface="Calibri"/>
              </a:rPr>
              <a:t>●  </a:t>
            </a:r>
            <a:r>
              <a:rPr sz="1400">
                <a:solidFill>
                  <a:srgbClr val="2A2A28"/>
                </a:solidFill>
                <a:latin typeface="Calibri"/>
              </a:rPr>
              <a:t>5 recommandations chiffrées et un plan d'action à 30 jours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28816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9A97"/>
                </a:solidFill>
                <a:latin typeface="Calibri"/>
              </a:rPr>
              <a:t>AfriMarket — Résumé Exécutif à destination de la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A9A9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Afri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92608"/>
            <a:ext cx="59412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45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C3D2A"/>
                </a:solidFill>
                <a:latin typeface="Calibri"/>
              </a:rPr>
              <a:t>VUE D'ENSEMBLE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A2A28"/>
                </a:solidFill>
                <a:latin typeface="Calibri"/>
              </a:rPr>
              <a:t>Chiffres clés de la période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007" y="1920240"/>
            <a:ext cx="2084831" cy="2103120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007" y="2286000"/>
            <a:ext cx="208483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2,51 M$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735" y="3063240"/>
            <a:ext cx="186537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Chiffre d'affaires total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5719" y="1920240"/>
            <a:ext cx="2084831" cy="210312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5719" y="2286000"/>
            <a:ext cx="208483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A2A28"/>
                </a:solidFill>
                <a:latin typeface="Calibri"/>
              </a:rPr>
              <a:t>430 k$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447" y="3063240"/>
            <a:ext cx="186537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9A9A97"/>
                </a:solidFill>
                <a:latin typeface="Calibri"/>
              </a:rPr>
              <a:t>Profit net estimé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3431" y="1920240"/>
            <a:ext cx="2084831" cy="210312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3431" y="2286000"/>
            <a:ext cx="208483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A2A28"/>
                </a:solidFill>
                <a:latin typeface="Calibri"/>
              </a:rPr>
              <a:t>272,03 $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3159" y="3063240"/>
            <a:ext cx="186537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9A9A97"/>
                </a:solidFill>
                <a:latin typeface="Calibri"/>
              </a:rPr>
              <a:t>Panier moyen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21143" y="1920240"/>
            <a:ext cx="2084831" cy="210312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21143" y="2286000"/>
            <a:ext cx="208483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A2A28"/>
                </a:solidFill>
                <a:latin typeface="Calibri"/>
              </a:rPr>
              <a:t>1,9 %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0871" y="3063240"/>
            <a:ext cx="186537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9A9A97"/>
                </a:solidFill>
                <a:latin typeface="Calibri"/>
              </a:rPr>
              <a:t>Taux d'annulation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88855" y="1920240"/>
            <a:ext cx="2084831" cy="210312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8855" y="2286000"/>
            <a:ext cx="208483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A2A28"/>
                </a:solidFill>
                <a:latin typeface="Calibri"/>
              </a:rPr>
              <a:t>8,1 %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8583" y="3063240"/>
            <a:ext cx="186537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9A9A97"/>
                </a:solidFill>
                <a:latin typeface="Calibri"/>
              </a:rPr>
              <a:t>Taux de retour</a:t>
            </a:r>
          </a:p>
        </p:txBody>
      </p:sp>
      <p:pic>
        <p:nvPicPr>
          <p:cNvPr id="22" name="Picture 21" descr="01_ca_mensu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4251960"/>
            <a:ext cx="3931920" cy="19659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28816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9A97"/>
                </a:solidFill>
                <a:latin typeface="Calibri"/>
              </a:rPr>
              <a:t>AfriMarket — Résumé Exécutif à destination de la Direction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28816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A9A9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Afri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92608"/>
            <a:ext cx="59412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45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C3D2A"/>
                </a:solidFill>
                <a:latin typeface="Calibri"/>
              </a:rPr>
              <a:t>ANALYSE PRODUIT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A2A28"/>
                </a:solidFill>
                <a:latin typeface="Calibri"/>
              </a:rPr>
              <a:t>Quelle catégorie prioriser ?</a:t>
            </a:r>
          </a:p>
        </p:txBody>
      </p:sp>
      <p:pic>
        <p:nvPicPr>
          <p:cNvPr id="7" name="Picture 6" descr="02_catego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325880"/>
            <a:ext cx="9052560" cy="3703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166360"/>
            <a:ext cx="11247120" cy="105156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285232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A2A28"/>
                </a:solidFill>
                <a:latin typeface="Calibri"/>
              </a:rPr>
              <a:t>Électronique génère 74,6 % du CA (1,87 M$) mais affiche la marge la plus faible (20 %) et le taux de retour le plus élevé (13,8 %). Beauté est la catégorie la plus rentable (marge 50 %) et la plus fiable (2,8 % de retour) mais reste marginale (3 % du CA).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28816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9A97"/>
                </a:solidFill>
                <a:latin typeface="Calibri"/>
              </a:rPr>
              <a:t>AfriMarket — Résumé Exécutif à destination de la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28816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A9A9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Afri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92608"/>
            <a:ext cx="59412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45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C3D2A"/>
                </a:solidFill>
                <a:latin typeface="Calibri"/>
              </a:rPr>
              <a:t>ANALYSE GÉOGRAPHIQUE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A2A28"/>
                </a:solidFill>
                <a:latin typeface="Calibri"/>
              </a:rPr>
              <a:t>Où investir davantage ?</a:t>
            </a:r>
          </a:p>
        </p:txBody>
      </p:sp>
      <p:pic>
        <p:nvPicPr>
          <p:cNvPr id="7" name="Picture 6" descr="03_vil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62760"/>
            <a:ext cx="6492240" cy="3606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15544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C3D2A"/>
                </a:solidFill>
                <a:latin typeface="Calibri"/>
              </a:rPr>
              <a:t>Constats clés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9659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DC3D2A"/>
                </a:solidFill>
                <a:latin typeface="Calibri"/>
              </a:rPr>
              <a:t>●  </a:t>
            </a:r>
            <a:r>
              <a:rPr sz="1350" b="1">
                <a:solidFill>
                  <a:srgbClr val="DC3D2A"/>
                </a:solidFill>
                <a:latin typeface="Calibri"/>
              </a:rPr>
              <a:t>Kinshasa — </a:t>
            </a:r>
            <a:r>
              <a:rPr sz="1350">
                <a:solidFill>
                  <a:srgbClr val="2A2A28"/>
                </a:solidFill>
                <a:latin typeface="Calibri"/>
              </a:rPr>
              <a:t>domine largement (752 k$ de CA, 130 k$ de profit) : priorité d'investissement.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DC3D2A"/>
                </a:solidFill>
                <a:latin typeface="Calibri"/>
              </a:rPr>
              <a:t>●  </a:t>
            </a:r>
            <a:r>
              <a:rPr sz="1350" b="1">
                <a:solidFill>
                  <a:srgbClr val="DC3D2A"/>
                </a:solidFill>
                <a:latin typeface="Calibri"/>
              </a:rPr>
              <a:t>Douala — </a:t>
            </a:r>
            <a:r>
              <a:rPr sz="1350">
                <a:solidFill>
                  <a:srgbClr val="2A2A28"/>
                </a:solidFill>
                <a:latin typeface="Calibri"/>
              </a:rPr>
              <a:t>meilleure croissance du réseau (+76 %) mais taux d'annulation anormal (12,9 % vs ~0 % ailleurs).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DC3D2A"/>
                </a:solidFill>
                <a:latin typeface="Calibri"/>
              </a:rPr>
              <a:t>●  </a:t>
            </a:r>
            <a:r>
              <a:rPr sz="1350" b="1">
                <a:solidFill>
                  <a:srgbClr val="DC3D2A"/>
                </a:solidFill>
                <a:latin typeface="Calibri"/>
              </a:rPr>
              <a:t>Libreville — </a:t>
            </a:r>
            <a:r>
              <a:rPr sz="1350">
                <a:solidFill>
                  <a:srgbClr val="2A2A28"/>
                </a:solidFill>
                <a:latin typeface="Calibri"/>
              </a:rPr>
              <a:t>recule de 46 % : à réévaluer avant tout nouveau budget marketing.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DC3D2A"/>
                </a:solidFill>
                <a:latin typeface="Calibri"/>
              </a:rPr>
              <a:t>●  </a:t>
            </a:r>
            <a:r>
              <a:rPr sz="1350" b="1">
                <a:solidFill>
                  <a:srgbClr val="DC3D2A"/>
                </a:solidFill>
                <a:latin typeface="Calibri"/>
              </a:rPr>
              <a:t>Brazzaville — </a:t>
            </a:r>
            <a:r>
              <a:rPr sz="1350">
                <a:solidFill>
                  <a:srgbClr val="2A2A28"/>
                </a:solidFill>
                <a:latin typeface="Calibri"/>
              </a:rPr>
              <a:t>marché émergent en croissance (+60 %) à surveiller.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28816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9A97"/>
                </a:solidFill>
                <a:latin typeface="Calibri"/>
              </a:rPr>
              <a:t>AfriMarket — Résumé Exécutif à destination de la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28816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A9A9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Afri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92608"/>
            <a:ext cx="59412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45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C3D2A"/>
                </a:solidFill>
                <a:latin typeface="Calibri"/>
              </a:rPr>
              <a:t>ANALYSE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A2A28"/>
                </a:solidFill>
                <a:latin typeface="Calibri"/>
              </a:rPr>
              <a:t>Quel canal mérite plus de budget ?</a:t>
            </a:r>
          </a:p>
        </p:txBody>
      </p:sp>
      <p:pic>
        <p:nvPicPr>
          <p:cNvPr id="7" name="Picture 6" descr="04_roi_ca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325880"/>
            <a:ext cx="7406640" cy="3703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166360"/>
            <a:ext cx="11247120" cy="105156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285232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A2A28"/>
                </a:solidFill>
                <a:latin typeface="Calibri"/>
              </a:rPr>
              <a:t>Email affiche un ROI de 225x pour seulement 2 349 $ investis (le plus petit budget). Instagram Ads consomme le plus gros budget (37 637 $) pour un ROI de 24x seulement. Un rééquilibrage progressif vers Email et Google Ads (ROI 49x) maximiserait le retour marginal du budget.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28816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9A97"/>
                </a:solidFill>
                <a:latin typeface="Calibri"/>
              </a:rPr>
              <a:t>AfriMarket — Résumé Exécutif à destination de la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28816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A9A9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Afri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92608"/>
            <a:ext cx="59412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45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C3D2A"/>
                </a:solidFill>
                <a:latin typeface="Calibri"/>
              </a:rPr>
              <a:t>ANALYSE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A2A28"/>
                </a:solidFill>
                <a:latin typeface="Calibri"/>
              </a:rPr>
              <a:t>Comment améliorer la rétention ?</a:t>
            </a:r>
          </a:p>
        </p:txBody>
      </p:sp>
      <p:pic>
        <p:nvPicPr>
          <p:cNvPr id="7" name="Picture 6" descr="05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97380"/>
            <a:ext cx="6675120" cy="3337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55448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C3D2A"/>
                </a:solidFill>
                <a:latin typeface="Calibri"/>
              </a:rPr>
              <a:t>Constats clés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965960"/>
            <a:ext cx="4434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DC3D2A"/>
                </a:solidFill>
                <a:latin typeface="Calibri"/>
              </a:rPr>
              <a:t>●  </a:t>
            </a:r>
            <a:r>
              <a:rPr sz="1350" b="1">
                <a:solidFill>
                  <a:srgbClr val="DC3D2A"/>
                </a:solidFill>
                <a:latin typeface="Calibri"/>
              </a:rPr>
              <a:t>1 747 clients, </a:t>
            </a:r>
            <a:r>
              <a:rPr sz="1350">
                <a:solidFill>
                  <a:srgbClr val="2A2A28"/>
                </a:solidFill>
                <a:latin typeface="Calibri"/>
              </a:rPr>
              <a:t>dont 74 % déjà récurrents (plus d'une commande) : un socle de fidélité solide.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DC3D2A"/>
                </a:solidFill>
                <a:latin typeface="Calibri"/>
              </a:rPr>
              <a:t>●  </a:t>
            </a:r>
            <a:r>
              <a:rPr sz="1350" b="1">
                <a:solidFill>
                  <a:srgbClr val="DC3D2A"/>
                </a:solidFill>
                <a:latin typeface="Calibri"/>
              </a:rPr>
              <a:t>Effet Pareto marqué : </a:t>
            </a:r>
            <a:r>
              <a:rPr sz="1350">
                <a:solidFill>
                  <a:srgbClr val="2A2A28"/>
                </a:solidFill>
                <a:latin typeface="Calibri"/>
              </a:rPr>
              <a:t>les 350 clients les plus rentables (20 % de la base) génèrent 64,5 % du CA total.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DC3D2A"/>
                </a:solidFill>
                <a:latin typeface="Calibri"/>
              </a:rPr>
              <a:t>●  </a:t>
            </a:r>
            <a:r>
              <a:rPr sz="1350" b="1">
                <a:solidFill>
                  <a:srgbClr val="DC3D2A"/>
                </a:solidFill>
                <a:latin typeface="Calibri"/>
              </a:rPr>
              <a:t>Implication : </a:t>
            </a:r>
            <a:r>
              <a:rPr sz="1350">
                <a:solidFill>
                  <a:srgbClr val="2A2A28"/>
                </a:solidFill>
                <a:latin typeface="Calibri"/>
              </a:rPr>
              <a:t>la valeur de l'entreprise repose sur une minorité de clients à protéger en priorité via un programme de fidélisation dédié.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28816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9A97"/>
                </a:solidFill>
                <a:latin typeface="Calibri"/>
              </a:rPr>
              <a:t>AfriMarket — Résumé Exécutif à destination de la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28816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A9A9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Afri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92608"/>
            <a:ext cx="59412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45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C3D2A"/>
                </a:solidFill>
                <a:latin typeface="Calibri"/>
              </a:rPr>
              <a:t>PLAN D'ACTION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A2A28"/>
                </a:solidFill>
                <a:latin typeface="Calibri"/>
              </a:rPr>
              <a:t>5 recommandations stratégiques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82296" cy="868680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2A28"/>
                </a:solidFill>
                <a:latin typeface="Calibri"/>
              </a:rPr>
              <a:t>1. Sécuriser la marge Électronique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0136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A9A97"/>
                </a:solidFill>
                <a:latin typeface="Calibri"/>
              </a:rPr>
              <a:t>Négocier les coûts fournisseurs et traiter la cause des retours : levier le plus élevé sur le profit total (74,6 % du CA, marge 20 %).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04872"/>
            <a:ext cx="82296" cy="868680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0487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2A28"/>
                </a:solidFill>
                <a:latin typeface="Calibri"/>
              </a:rPr>
              <a:t>2. Réduire le taux de retour Électronique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A9A97"/>
                </a:solidFill>
                <a:latin typeface="Calibri"/>
              </a:rPr>
              <a:t>Audit qualité/SAV ciblé — cause principale du taux de retour global de 8,1 %.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92424"/>
            <a:ext cx="82296" cy="868680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9242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2A28"/>
                </a:solidFill>
                <a:latin typeface="Calibri"/>
              </a:rPr>
              <a:t>3. Réallouer le budget marketing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76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A9A97"/>
                </a:solidFill>
                <a:latin typeface="Calibri"/>
              </a:rPr>
              <a:t>Transférer 15-20 % du budget Instagram/Influenceur vers Email (ROI 225x) et Google Ads (ROI 49x), en test A/B avant généralisation.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79976"/>
            <a:ext cx="82296" cy="868680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79976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2A28"/>
                </a:solidFill>
                <a:latin typeface="Calibri"/>
              </a:rPr>
              <a:t>4. Corriger l'anomalie de Douala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6402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A9A97"/>
                </a:solidFill>
                <a:latin typeface="Calibri"/>
              </a:rPr>
              <a:t>Investiguer en urgence le taux d'annulation de 12,9 % (paiement, stock, livraison) ; geler tout budget supplémentaire à Libreville (-46 %).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367528"/>
            <a:ext cx="82296" cy="868680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675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2A28"/>
                </a:solidFill>
                <a:latin typeface="Calibri"/>
              </a:rPr>
              <a:t>5. Lancer un programme de fidélisation VIP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51576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A9A97"/>
                </a:solidFill>
                <a:latin typeface="Calibri"/>
              </a:rPr>
              <a:t>Protéger les 350 clients Pareto (64,5 % du CA) : le ROI de rétention y est supérieur à celui de l'acquisition.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28816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9A97"/>
                </a:solidFill>
                <a:latin typeface="Calibri"/>
              </a:rPr>
              <a:t>AfriMarket — Résumé Exécutif à destination de la Direction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28816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A9A9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Afri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92608"/>
            <a:ext cx="59412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45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C3D2A"/>
                </a:solidFill>
                <a:latin typeface="Calibri"/>
              </a:rPr>
              <a:t>MISE EN ŒUVRE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A2A28"/>
                </a:solidFill>
                <a:latin typeface="Calibri"/>
              </a:rPr>
              <a:t>Plan d'action à 30 jours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147" y="1645920"/>
            <a:ext cx="3520440" cy="685800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5147" y="1645920"/>
            <a:ext cx="3520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Semaine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147" y="2331720"/>
            <a:ext cx="3520440" cy="265176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747" y="2560320"/>
            <a:ext cx="3063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A2A28"/>
                </a:solidFill>
                <a:latin typeface="Calibri"/>
              </a:rPr>
              <a:t>Audit qualité/SAV Électronique + audit opérationnel des annulations à Douala.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5627" y="1645920"/>
            <a:ext cx="3520440" cy="685800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5627" y="1645920"/>
            <a:ext cx="3520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Semaine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5627" y="2331720"/>
            <a:ext cx="3520440" cy="265176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4227" y="2560320"/>
            <a:ext cx="3063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A2A28"/>
                </a:solidFill>
                <a:latin typeface="Calibri"/>
              </a:rPr>
              <a:t>Transfert de 15-20 % du budget Instagram Ads/Influenceur vers Email/Google Ads, en test A/B sur un mois.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6107" y="1645920"/>
            <a:ext cx="3520440" cy="685800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6107" y="1645920"/>
            <a:ext cx="3520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Semaines 3-4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6107" y="2331720"/>
            <a:ext cx="3520440" cy="265176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4707" y="2560320"/>
            <a:ext cx="3063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A2A28"/>
                </a:solidFill>
                <a:latin typeface="Calibri"/>
              </a:rPr>
              <a:t>Lancement pilote du programme de fidélisation VIP sur les 350 clients Pareto identifiés.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349240"/>
            <a:ext cx="10360152" cy="914400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504688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FFFFFF"/>
                </a:solidFill>
                <a:latin typeface="Calibri"/>
              </a:rPr>
              <a:t>Ces trois actions ciblent directement les 4 signaux remontés par la Direction, sans budget supplémentaire net : une réallocation de ressources existantes.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28816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9A97"/>
                </a:solidFill>
                <a:latin typeface="Calibri"/>
              </a:rPr>
              <a:t>AfriMarket — Résumé Exécutif à destination de la Direction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28816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A9A9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Afri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822960"/>
            <a:ext cx="1544733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Un modèle rentable, trois leviers de rentabilité identifiés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944575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9A9A97"/>
                </a:solidFill>
                <a:latin typeface="Calibri"/>
              </a:rPr>
              <a:t>2,51 M$ de CA et 430 k$ de profit net estimé sur 6 mois — avec des fuites de rentabilité claires et quantifiées sur les retours Électronique, l'allocation marketing et l'anomalie opérationnelle de Douala.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1">
                <a:solidFill>
                  <a:srgbClr val="E8A33D"/>
                </a:solidFill>
                <a:latin typeface="Calibri"/>
              </a:rPr>
              <a:t>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